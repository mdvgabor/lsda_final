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1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70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763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73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58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7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0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99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41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846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11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9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737F6-130A-66B9-F977-4CC4562B6F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6284" b="9446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9317B0-D94E-5AF1-CE6F-D52065763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California 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2E944-8603-723E-8DCA-40FD36E56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525" y="3406499"/>
            <a:ext cx="5040785" cy="1724029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Medvegy Gábor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31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737F6-130A-66B9-F977-4CC4562B6F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6284" b="9446"/>
          <a:stretch>
            <a:fillRect/>
          </a:stretch>
        </p:blipFill>
        <p:spPr>
          <a:xfrm>
            <a:off x="-1" y="-3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9317B0-D94E-5AF1-CE6F-D52065763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409964" cy="3290107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Business Case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2E944-8603-723E-8DCA-40FD36E56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407" y="1941126"/>
            <a:ext cx="9028386" cy="414107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“What are the most important factors influencing median house prices of neighborhoods of California, and implicitly, where should one look if they want to find affordable housing there?”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22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737F6-130A-66B9-F977-4CC4562B6F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6284" b="9446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9317B0-D94E-5AF1-CE6F-D52065763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1428462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Data Pipeline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DE208F-E56B-7E12-8760-E73B021BFB17}"/>
              </a:ext>
            </a:extLst>
          </p:cNvPr>
          <p:cNvSpPr txBox="1">
            <a:spLocks/>
          </p:cNvSpPr>
          <p:nvPr/>
        </p:nvSpPr>
        <p:spPr>
          <a:xfrm>
            <a:off x="1" y="2028497"/>
            <a:ext cx="12192000" cy="26275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</a:rPr>
              <a:t>	1.	Upload the raw California Housing dataset (</a:t>
            </a:r>
            <a:r>
              <a:rPr lang="en-US" sz="2000" dirty="0" err="1">
                <a:solidFill>
                  <a:srgbClr val="FFFFFF"/>
                </a:solidFill>
              </a:rPr>
              <a:t>california_housing.csv</a:t>
            </a:r>
            <a:r>
              <a:rPr lang="en-US" sz="2000" dirty="0">
                <a:solidFill>
                  <a:srgbClr val="FFFFFF"/>
                </a:solidFill>
              </a:rPr>
              <a:t>) into an S3 bucket to 		act as the pipeline’s input source.</a:t>
            </a:r>
          </a:p>
          <a:p>
            <a:pPr>
              <a:lnSpc>
                <a:spcPct val="120000"/>
              </a:lnSpc>
            </a:pPr>
            <a:endParaRPr lang="en-US" sz="2000" dirty="0">
              <a:solidFill>
                <a:srgbClr val="FFFFFF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</a:rPr>
              <a:t>	2.	Trigger the ETL automatically with </a:t>
            </a:r>
            <a:r>
              <a:rPr lang="en-US" sz="2000" dirty="0" err="1">
                <a:solidFill>
                  <a:srgbClr val="FFFFFF"/>
                </a:solidFill>
              </a:rPr>
              <a:t>EventBridge</a:t>
            </a:r>
            <a:r>
              <a:rPr lang="en-US" sz="2000" dirty="0">
                <a:solidFill>
                  <a:srgbClr val="FFFFFF"/>
                </a:solidFill>
              </a:rPr>
              <a:t> (scheduled rule), which invokes the 			AWS Lambda function on a recurring basis (daily).</a:t>
            </a:r>
          </a:p>
          <a:p>
            <a:pPr>
              <a:lnSpc>
                <a:spcPct val="120000"/>
              </a:lnSpc>
            </a:pPr>
            <a:endParaRPr lang="en-US" sz="2000" dirty="0">
              <a:solidFill>
                <a:srgbClr val="FFFFFF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</a:rPr>
              <a:t>	3.	Lambda (Docker container image) extracts and cleans the housing data, including 			handling missing values (e.g., filling </a:t>
            </a:r>
            <a:r>
              <a:rPr lang="en-US" sz="2000" dirty="0" err="1">
                <a:solidFill>
                  <a:srgbClr val="FFFFFF"/>
                </a:solidFill>
              </a:rPr>
              <a:t>total_bedrooms</a:t>
            </a:r>
            <a:r>
              <a:rPr lang="en-US" sz="2000" dirty="0">
                <a:solidFill>
                  <a:srgbClr val="FFFFFF"/>
                </a:solidFill>
              </a:rPr>
              <a:t> with the median) and capping 			numeric outliers.</a:t>
            </a:r>
          </a:p>
          <a:p>
            <a:pPr>
              <a:lnSpc>
                <a:spcPct val="120000"/>
              </a:lnSpc>
            </a:pPr>
            <a:endParaRPr lang="en-US" sz="2000" dirty="0">
              <a:solidFill>
                <a:srgbClr val="FFFFFF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</a:rPr>
              <a:t>	4.	Lambda performs stratified sampling (500 rows) by </a:t>
            </a:r>
            <a:r>
              <a:rPr lang="en-US" sz="2000" dirty="0" err="1">
                <a:solidFill>
                  <a:srgbClr val="FFFFFF"/>
                </a:solidFill>
              </a:rPr>
              <a:t>ocean_proximity</a:t>
            </a:r>
            <a:r>
              <a:rPr lang="en-US" sz="2000" dirty="0">
                <a:solidFill>
                  <a:srgbClr val="FFFFFF"/>
                </a:solidFill>
              </a:rPr>
              <a:t> to stay within 			external API limits while keeping the category proportions representative.</a:t>
            </a:r>
          </a:p>
        </p:txBody>
      </p:sp>
    </p:spTree>
    <p:extLst>
      <p:ext uri="{BB962C8B-B14F-4D97-AF65-F5344CB8AC3E}">
        <p14:creationId xmlns:p14="http://schemas.microsoft.com/office/powerpoint/2010/main" val="6715813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737F6-130A-66B9-F977-4CC4562B6F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6284" b="9446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9317B0-D94E-5AF1-CE6F-D52065763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Structure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18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737F6-130A-66B9-F977-4CC4562B6F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6284" b="9446"/>
          <a:stretch>
            <a:fillRect/>
          </a:stretch>
        </p:blipFill>
        <p:spPr>
          <a:xfrm>
            <a:off x="0" y="0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9317B0-D94E-5AF1-CE6F-D52065763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978407"/>
            <a:ext cx="6082627" cy="3290107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Cost Calculation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7449013-4AD1-0FB8-4CF3-93317B6BF88F}"/>
              </a:ext>
            </a:extLst>
          </p:cNvPr>
          <p:cNvSpPr txBox="1">
            <a:spLocks/>
          </p:cNvSpPr>
          <p:nvPr/>
        </p:nvSpPr>
        <p:spPr>
          <a:xfrm>
            <a:off x="628228" y="2589486"/>
            <a:ext cx="11185400" cy="329010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FFFFF"/>
                </a:solidFill>
              </a:rPr>
              <a:t>1.	S3 storage: virtually free (&lt;$0.01).</a:t>
            </a:r>
          </a:p>
          <a:p>
            <a:endParaRPr lang="en-US" sz="2400" dirty="0">
              <a:solidFill>
                <a:srgbClr val="FFFFFF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2.	Lambda API calls: free (within free tier).</a:t>
            </a:r>
          </a:p>
          <a:p>
            <a:endParaRPr lang="en-US" sz="2400" dirty="0">
              <a:solidFill>
                <a:srgbClr val="FFFFFF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3.	Glue ETL: around $0.07 per run, or $2.20/month if scheduled daily.</a:t>
            </a:r>
          </a:p>
          <a:p>
            <a:endParaRPr lang="en-US" sz="2400" dirty="0">
              <a:solidFill>
                <a:srgbClr val="FFFFFF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4.	Redshift Serverless compute: about $0.10/month for light querying.</a:t>
            </a:r>
          </a:p>
          <a:p>
            <a:endParaRPr lang="en-US" sz="2400" dirty="0">
              <a:solidFill>
                <a:srgbClr val="FFFFFF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5.	Total cost ≈ $2.30/month, or $0.15 for a single run.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39E8B2-D529-E019-7E5A-5741CB6EE646}"/>
              </a:ext>
            </a:extLst>
          </p:cNvPr>
          <p:cNvSpPr txBox="1"/>
          <p:nvPr/>
        </p:nvSpPr>
        <p:spPr>
          <a:xfrm>
            <a:off x="4256689" y="6188177"/>
            <a:ext cx="3678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Sources: </a:t>
            </a:r>
            <a:r>
              <a:rPr lang="en-US" dirty="0"/>
              <a:t>AWS, </a:t>
            </a:r>
            <a:r>
              <a:rPr lang="en-US" dirty="0" err="1"/>
              <a:t>ChatGPT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844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267</Words>
  <Application>Microsoft Macintosh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Bierstadt</vt:lpstr>
      <vt:lpstr>GestaltVTI</vt:lpstr>
      <vt:lpstr>California Final Project</vt:lpstr>
      <vt:lpstr>Business Case</vt:lpstr>
      <vt:lpstr>Data Pipeline</vt:lpstr>
      <vt:lpstr>Structure</vt:lpstr>
      <vt:lpstr>Cost Calculation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Final Project</dc:title>
  <dc:creator>O365 felhasználó</dc:creator>
  <cp:lastModifiedBy>O365 felhasználó</cp:lastModifiedBy>
  <cp:revision>21</cp:revision>
  <dcterms:created xsi:type="dcterms:W3CDTF">2025-11-18T12:32:22Z</dcterms:created>
  <dcterms:modified xsi:type="dcterms:W3CDTF">2026-01-10T18:56:16Z</dcterms:modified>
</cp:coreProperties>
</file>